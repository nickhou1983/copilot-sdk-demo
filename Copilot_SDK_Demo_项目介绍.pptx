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1530400"/>
            <a:ext cx="1015901" cy="38100"/>
          </a:xfrm>
          <a:prstGeom prst="rect">
            <a:avLst/>
          </a:prstGeom>
          <a:solidFill>
            <a:srgbClr val="B165F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762000" y="1822400"/>
            <a:ext cx="777240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SDK Demo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62000" y="2498675"/>
            <a:ext cx="777240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0"/>
              </a:spcAft>
              <a:buNone/>
            </a:pPr>
            <a:r>
              <a:rPr lang="en-US" sz="1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GitHub Copilot CLI SDK 的全栈 AI 聊天助手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62000" y="3194000"/>
            <a:ext cx="77724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项目介绍 &amp; 技术架构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2000" y="3470225"/>
            <a:ext cx="77724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github.com/nickhou1983/copilot-sdk-demo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项目概述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7950" y="717352"/>
            <a:ext cx="8290661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SDK Demo 是一个基于 </a:t>
            </a:r>
            <a:pPr algn="l" indent="0" marL="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200" b="1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Copilot CLI SDK</a:t>
            </a:r>
            <a:pPr algn="l" indent="0" marL="0">
              <a:lnSpc>
                <a:spcPts val="192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E8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(@github/copilot-sdk) 的全栈演示应用。提供 Web 聊天界面，支持与多个 AI 模型交互，展示工具调用、流式响应、会话管理等高级 SDK 功能。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07950" y="1535013"/>
            <a:ext cx="2590800" cy="1374428"/>
          </a:xfrm>
          <a:prstGeom prst="roundRect">
            <a:avLst>
              <a:gd name="adj" fmla="val 554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27000" y="1535013"/>
            <a:ext cx="0" cy="1374428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201" y="1738164"/>
            <a:ext cx="21893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核心定位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49201" y="2039689"/>
            <a:ext cx="218932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展示如何使用 Copilot CLI SDK 构建自定义 AI 聊天助手的完整参考实现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76451" y="1535013"/>
            <a:ext cx="2590949" cy="1374428"/>
          </a:xfrm>
          <a:prstGeom prst="roundRect">
            <a:avLst>
              <a:gd name="adj" fmla="val 554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295501" y="1535013"/>
            <a:ext cx="0" cy="1374428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17702" y="1738164"/>
            <a:ext cx="21894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关键能力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17702" y="2064990"/>
            <a:ext cx="609154" cy="203002"/>
          </a:xfrm>
          <a:prstGeom prst="roundRect">
            <a:avLst>
              <a:gd name="adj" fmla="val 18768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619202" y="2090291"/>
            <a:ext cx="41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流式聊天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220021" y="2064990"/>
            <a:ext cx="507653" cy="203002"/>
          </a:xfrm>
          <a:prstGeom prst="roundRect">
            <a:avLst>
              <a:gd name="adj" fmla="val 18768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321522" y="2090291"/>
            <a:ext cx="31074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20841" y="2064990"/>
            <a:ext cx="609154" cy="203002"/>
          </a:xfrm>
          <a:prstGeom prst="roundRect">
            <a:avLst>
              <a:gd name="adj" fmla="val 18768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922341" y="2090291"/>
            <a:ext cx="41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7702" y="2318593"/>
            <a:ext cx="468362" cy="203002"/>
          </a:xfrm>
          <a:prstGeom prst="roundRect">
            <a:avLst>
              <a:gd name="adj" fmla="val 18768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619202" y="2343894"/>
            <a:ext cx="27066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079230" y="2318593"/>
            <a:ext cx="609154" cy="203002"/>
          </a:xfrm>
          <a:prstGeom prst="roundRect">
            <a:avLst>
              <a:gd name="adj" fmla="val 18768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180731" y="2343894"/>
            <a:ext cx="41427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文件处理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045101" y="1535013"/>
            <a:ext cx="2590949" cy="1374428"/>
          </a:xfrm>
          <a:prstGeom prst="roundRect">
            <a:avLst>
              <a:gd name="adj" fmla="val 554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6064151" y="1535013"/>
            <a:ext cx="0" cy="1374428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6351" y="1738164"/>
            <a:ext cx="218947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项目规模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86351" y="2039689"/>
            <a:ext cx="2189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~5,100 行代码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286351" y="2261890"/>
            <a:ext cx="2189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 TypeScript + JavaScript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86351" y="2484090"/>
            <a:ext cx="218947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Aft>
                <a:spcPts val="4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前后端完整实现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技术栈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07950" y="666601"/>
            <a:ext cx="3962400" cy="2168277"/>
          </a:xfrm>
          <a:prstGeom prst="roundRect">
            <a:avLst>
              <a:gd name="adj" fmla="val 3514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85651" y="844302"/>
            <a:ext cx="3679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后端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85651" y="12220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863352" y="1171277"/>
            <a:ext cx="129899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Node.js (v18+)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651" y="14696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863352" y="1418927"/>
            <a:ext cx="123113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Framework: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Express.js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85651" y="17173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863352" y="1666577"/>
            <a:ext cx="104957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实时通信: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Socket.IO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651" y="19649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863352" y="1914227"/>
            <a:ext cx="10497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TypeScript 5.3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651" y="22126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63352" y="2161877"/>
            <a:ext cx="2023556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SDK: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@github/copilot-sdk v0.1.20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85651" y="24602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63352" y="2409527"/>
            <a:ext cx="82293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Zod v3.22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7950" y="2987278"/>
            <a:ext cx="3962400" cy="1425327"/>
          </a:xfrm>
          <a:prstGeom prst="roundRect">
            <a:avLst>
              <a:gd name="adj" fmla="val 5346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85651" y="3164979"/>
            <a:ext cx="367913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构建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651" y="354270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63352" y="3491954"/>
            <a:ext cx="130870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Compiler (tsc)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85651" y="379035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63352" y="3739604"/>
            <a:ext cx="150301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tsx 开发服务器 (watch mode)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5651" y="4038005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63352" y="3987254"/>
            <a:ext cx="91371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ES2022 模块输出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73501" y="666601"/>
            <a:ext cx="3962549" cy="1672977"/>
          </a:xfrm>
          <a:prstGeom prst="roundRect">
            <a:avLst>
              <a:gd name="adj" fmla="val 455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851202" y="844302"/>
            <a:ext cx="3679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前端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51202" y="12220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5028902" y="1171277"/>
            <a:ext cx="180541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语言: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Vanilla JavaScript（无框架）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851202" y="14696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5028902" y="1418927"/>
            <a:ext cx="1692167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样式: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原生 CSS + CSS Variables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851202" y="171732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028902" y="1666577"/>
            <a:ext cx="1684273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文件处理: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HTML5 File API / 拖拽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51202" y="1964978"/>
            <a:ext cx="76200" cy="76200"/>
          </a:xfrm>
          <a:prstGeom prst="roundRect">
            <a:avLst>
              <a:gd name="adj" fmla="val 1200000"/>
            </a:avLst>
          </a:prstGeom>
          <a:solidFill>
            <a:srgbClr val="40695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5028902" y="1914227"/>
            <a:ext cx="1470532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代码高亮:</a:t>
            </a:r>
            <a:pPr algn="l" indent="0" marL="0">
              <a:lnSpc>
                <a:spcPts val="1350"/>
              </a:lnSpc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Highlight.js (CDN)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73501" y="2491978"/>
            <a:ext cx="3962549" cy="898029"/>
          </a:xfrm>
          <a:prstGeom prst="roundRect">
            <a:avLst>
              <a:gd name="adj" fmla="val 84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4851202" y="2669679"/>
            <a:ext cx="367929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核心依赖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851202" y="3047405"/>
            <a:ext cx="1045666" cy="164902"/>
          </a:xfrm>
          <a:prstGeom prst="roundRect">
            <a:avLst>
              <a:gd name="adj" fmla="val 23105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927402" y="3072705"/>
            <a:ext cx="91113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@github/copilot-sdk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939284" y="3047405"/>
            <a:ext cx="507950" cy="164902"/>
          </a:xfrm>
          <a:prstGeom prst="roundRect">
            <a:avLst>
              <a:gd name="adj" fmla="val 23105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015484" y="3072705"/>
            <a:ext cx="362661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489650" y="3047405"/>
            <a:ext cx="553194" cy="164902"/>
          </a:xfrm>
          <a:prstGeom prst="roundRect">
            <a:avLst>
              <a:gd name="adj" fmla="val 23105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6565850" y="3072705"/>
            <a:ext cx="408810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085261" y="3047405"/>
            <a:ext cx="434578" cy="164902"/>
          </a:xfrm>
          <a:prstGeom prst="roundRect">
            <a:avLst>
              <a:gd name="adj" fmla="val 23105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161461" y="3072705"/>
            <a:ext cx="2878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7562255" y="3047405"/>
            <a:ext cx="316111" cy="164902"/>
          </a:xfrm>
          <a:prstGeom prst="roundRect">
            <a:avLst>
              <a:gd name="adj" fmla="val 23105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7638455" y="3072705"/>
            <a:ext cx="16698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核心功能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15851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615851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7428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26902" y="742801"/>
            <a:ext cx="123736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流式聊天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26902" y="961876"/>
            <a:ext cx="123736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Socket.IO 实时消息流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517850" y="615851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3536900" y="615851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08350" y="742801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063752" y="742801"/>
            <a:ext cx="132965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063752" y="961876"/>
            <a:ext cx="132965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/ GPT-4o / o3-mini 等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1000" y="1383953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00050" y="1383953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1500" y="1510903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26902" y="1510903"/>
            <a:ext cx="10501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26902" y="1729978"/>
            <a:ext cx="105018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 + 自定义工具系统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517850" y="1383953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3536900" y="1383953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08350" y="1510903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063752" y="1510903"/>
            <a:ext cx="82855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推理展示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063752" y="1729978"/>
            <a:ext cx="82855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显示模型思维过程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81000" y="2152055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00050" y="2152055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71500" y="2279005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6902" y="2279005"/>
            <a:ext cx="128320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文件附件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26902" y="2498080"/>
            <a:ext cx="128320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文本/代码/图片/PDF (10MB)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517850" y="2152055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536900" y="2152055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08350" y="2279005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4063752" y="2279005"/>
            <a:ext cx="1113487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图片粘贴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063752" y="2498080"/>
            <a:ext cx="111348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剪贴板 Ctrl/Cmd+V 粘贴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381000" y="2920157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00050" y="2920157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71500" y="3047107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26902" y="3047107"/>
            <a:ext cx="103576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会话管理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26902" y="3266182"/>
            <a:ext cx="103576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创建、恢复、删除对话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517850" y="2920157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3536900" y="2920157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8350" y="3047107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4063752" y="3047107"/>
            <a:ext cx="10588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Agent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063752" y="3266182"/>
            <a:ext cx="10588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系统提示词 &amp; 工具访问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81000" y="3688259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400050" y="3688259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1500" y="3815209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26902" y="3815209"/>
            <a:ext cx="138901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26902" y="4034284"/>
            <a:ext cx="138901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GET/POST / JavaScript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517850" y="3688259"/>
            <a:ext cx="3009900" cy="641152"/>
          </a:xfrm>
          <a:prstGeom prst="roundRect">
            <a:avLst>
              <a:gd name="adj" fmla="val 1188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Shape 47"/>
          <p:cNvSpPr/>
          <p:nvPr/>
        </p:nvSpPr>
        <p:spPr>
          <a:xfrm>
            <a:off x="3536900" y="3688259"/>
            <a:ext cx="0" cy="641152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708350" y="3815209"/>
            <a:ext cx="258979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063752" y="3815209"/>
            <a:ext cx="93223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工具分组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063752" y="4034284"/>
            <a:ext cx="93223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逻辑分组管理工具集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1152"/>
            <a:ext cx="5638949" cy="4485977"/>
          </a:xfrm>
          <a:prstGeom prst="roundRect">
            <a:avLst>
              <a:gd name="adj" fmla="val 1699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818852"/>
            <a:ext cx="53892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目录结构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58701" y="1126778"/>
            <a:ext cx="5389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copilot-sdk-demo/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58701" y="1336328"/>
            <a:ext cx="5389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public/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1851" y="1545878"/>
            <a:ext cx="5182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index.html, css/style.css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61851" y="1685479"/>
            <a:ext cx="5182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js/app.js, agentManager.js, toolManager.js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8701" y="1825079"/>
            <a:ext cx="5389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761851" y="2034629"/>
            <a:ext cx="518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server.ts (608行) - Express + Socket.IO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61851" y="2202805"/>
            <a:ext cx="518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copilot.ts (755行) - SDK 封装 &amp; 会话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761851" y="2370981"/>
            <a:ext cx="518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tools/ - 内置 &amp; 自定义工具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61851" y="2539157"/>
            <a:ext cx="518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services/ - Agent/工具/存储服务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61851" y="2707332"/>
            <a:ext cx="518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routes/ - 文件上传接口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61851" y="2875508"/>
            <a:ext cx="518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types/ - TypeScript 类型定义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58701" y="3043684"/>
            <a:ext cx="5389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data/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61851" y="3253234"/>
            <a:ext cx="518200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agents.json, custom.json, toolGroups.json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58701" y="3392835"/>
            <a:ext cx="538921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uploads/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61851" y="3602385"/>
            <a:ext cx="518200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文件存储目录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223099" y="641152"/>
            <a:ext cx="2539901" cy="888950"/>
          </a:xfrm>
          <a:prstGeom prst="roundRect">
            <a:avLst>
              <a:gd name="adj" fmla="val 857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6223099" y="650677"/>
            <a:ext cx="2539901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53148" y="812602"/>
            <a:ext cx="22798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~5,100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353148" y="1215777"/>
            <a:ext cx="22798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总代码行数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23099" y="1657052"/>
            <a:ext cx="2539901" cy="888950"/>
          </a:xfrm>
          <a:prstGeom prst="roundRect">
            <a:avLst>
              <a:gd name="adj" fmla="val 857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6223099" y="1666577"/>
            <a:ext cx="2539901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3148" y="1828502"/>
            <a:ext cx="22798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3,000+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353148" y="2231678"/>
            <a:ext cx="22798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 TypeScript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223099" y="2672953"/>
            <a:ext cx="2539901" cy="888950"/>
          </a:xfrm>
          <a:prstGeom prst="roundRect">
            <a:avLst>
              <a:gd name="adj" fmla="val 857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6223099" y="2682478"/>
            <a:ext cx="2539901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53148" y="2844403"/>
            <a:ext cx="2279803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2,000+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353148" y="3247579"/>
            <a:ext cx="227980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JavaScript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223099" y="3688854"/>
            <a:ext cx="2539901" cy="1438275"/>
          </a:xfrm>
          <a:prstGeom prst="roundRect">
            <a:avLst>
              <a:gd name="adj" fmla="val 529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375499" y="3841254"/>
            <a:ext cx="227980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0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核心模块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375499" y="4098429"/>
            <a:ext cx="2279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server.ts - 服务端入口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375499" y="4279404"/>
            <a:ext cx="2279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copilot.ts - SDK 集成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6375499" y="4460379"/>
            <a:ext cx="227980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agentManager.ts - Agent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75499" y="4612779"/>
            <a:ext cx="2279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toolRegistry.ts - 工具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75499" y="4793754"/>
            <a:ext cx="227980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storage.ts - 持久化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后端架构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15851"/>
            <a:ext cx="4114800" cy="1476524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615851"/>
            <a:ext cx="0" cy="1476524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768251"/>
            <a:ext cx="38473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Client 管理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71500" y="999976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copilot.ts · 755 行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71500" y="1218456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单例模式 CopilotClient 管理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1500" y="1398836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 ID ↔ CopilotSession 映射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1500" y="1579215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stdio / Server 双运行模式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71500" y="1759595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消息历史缓存 &amp; 系统提示注入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648200" y="615851"/>
            <a:ext cx="4114800" cy="1476524"/>
          </a:xfrm>
          <a:prstGeom prst="roundRect">
            <a:avLst>
              <a:gd name="adj" fmla="val 516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667250" y="615851"/>
            <a:ext cx="0" cy="147652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38700" y="768251"/>
            <a:ext cx="384733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管理服务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38700" y="999976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agentManager.ts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838700" y="1218456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通用助手 - 全工具启用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38700" y="1398836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代码助手 - 编程任务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838700" y="1579215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翻译助手 - 专业翻译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38700" y="1759595"/>
            <a:ext cx="3847338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计划助手 - 任务规划分解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81000" y="2219325"/>
            <a:ext cx="2692301" cy="1296144"/>
          </a:xfrm>
          <a:prstGeom prst="roundRect">
            <a:avLst>
              <a:gd name="adj" fmla="val 5879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00050" y="2219325"/>
            <a:ext cx="0" cy="1296144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1500" y="2371725"/>
            <a:ext cx="2396389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工具注册表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71500" y="2603450"/>
            <a:ext cx="23963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toolRegistry.ts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571500" y="2821930"/>
            <a:ext cx="23963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 + 自定义双轨制管理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571500" y="3002310"/>
            <a:ext cx="23963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配置过滤工具访问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71500" y="3182689"/>
            <a:ext cx="23963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动态缓存 &amp; 自定义工具加载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225701" y="2219325"/>
            <a:ext cx="2692450" cy="1296144"/>
          </a:xfrm>
          <a:prstGeom prst="roundRect">
            <a:avLst>
              <a:gd name="adj" fmla="val 5879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3244751" y="2219325"/>
            <a:ext cx="0" cy="1296144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16201" y="2371725"/>
            <a:ext cx="23965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存储服务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416201" y="2603450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storage.ts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416201" y="2821930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文件持久化存储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416201" y="3002310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 版本控制 (v1.0)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416201" y="3182689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预置默认 Agent &amp; 工具组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070550" y="2219325"/>
            <a:ext cx="2692450" cy="1296144"/>
          </a:xfrm>
          <a:prstGeom prst="roundRect">
            <a:avLst>
              <a:gd name="adj" fmla="val 5879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089600" y="2219325"/>
            <a:ext cx="0" cy="1296144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61050" y="2371725"/>
            <a:ext cx="239654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事件体系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61050" y="2603450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600"/>
              </a:spcAft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server.ts · 608 行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261050" y="2821930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双向事件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1050" y="3002310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会话 / 消息 / Agent / 工具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1050" y="3182689"/>
            <a:ext cx="2396541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300"/>
              </a:spcAft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流式传输 &amp; 中断控制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工具系统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1152"/>
            <a:ext cx="4089350" cy="1967657"/>
          </a:xfrm>
          <a:prstGeom prst="roundRect">
            <a:avLst>
              <a:gd name="adj" fmla="val 387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818852"/>
            <a:ext cx="380862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内置工具 Built-in Tools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58701" y="1414016"/>
            <a:ext cx="3733949" cy="0"/>
          </a:xfrm>
          <a:prstGeom prst="line">
            <a:avLst/>
          </a:prstGeom>
          <a:noFill/>
          <a:ln w="9525">
            <a:solidFill>
              <a:srgbClr val="2A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58701" y="1145828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get_current_time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55602" y="1145828"/>
            <a:ext cx="13990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获取当前时间（支持时区）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58701" y="1788468"/>
            <a:ext cx="3733949" cy="0"/>
          </a:xfrm>
          <a:prstGeom prst="line">
            <a:avLst/>
          </a:prstGeom>
          <a:noFill/>
          <a:ln w="9525">
            <a:solidFill>
              <a:srgbClr val="2A2D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8701" y="1520279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955602" y="1520279"/>
            <a:ext cx="104927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数学表达式安全计算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58701" y="2162919"/>
            <a:ext cx="3733949" cy="0"/>
          </a:xfrm>
          <a:prstGeom prst="line">
            <a:avLst/>
          </a:prstGeom>
          <a:noFill/>
          <a:ln w="9525">
            <a:solidFill>
              <a:srgbClr val="2A2D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58701" y="1894731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get_weather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55602" y="1894731"/>
            <a:ext cx="116586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天气数据查询（演示）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8701" y="2269182"/>
            <a:ext cx="142483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process_text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955602" y="2269182"/>
            <a:ext cx="1463853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文本处理（统计/转换/反转）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81000" y="2735759"/>
            <a:ext cx="4089350" cy="345877"/>
          </a:xfrm>
          <a:prstGeom prst="roundRect">
            <a:avLst>
              <a:gd name="adj" fmla="val 14687"/>
            </a:avLst>
          </a:prstGeom>
          <a:solidFill>
            <a:srgbClr val="1A2A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0050" y="2735759"/>
            <a:ext cx="0" cy="345877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0601" y="2837259"/>
            <a:ext cx="392521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所有工具使用 Zod Schema 验证参数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73501" y="641152"/>
            <a:ext cx="4089499" cy="1558379"/>
          </a:xfrm>
          <a:prstGeom prst="roundRect">
            <a:avLst>
              <a:gd name="adj" fmla="val 489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851202" y="818852"/>
            <a:ext cx="3808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自定义工具类型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51202" y="1145828"/>
            <a:ext cx="1218902" cy="190500"/>
          </a:xfrm>
          <a:prstGeom prst="roundRect">
            <a:avLst>
              <a:gd name="adj" fmla="val 20000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42543" y="1183928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GET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197054" y="1145828"/>
            <a:ext cx="212511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模板 URL 参数插值，支持动态路径和查询参数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51202" y="1437829"/>
            <a:ext cx="1218902" cy="190500"/>
          </a:xfrm>
          <a:prstGeom prst="roundRect">
            <a:avLst>
              <a:gd name="adj" fmla="val 20000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42543" y="1475929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POST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197054" y="1437829"/>
            <a:ext cx="170916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Body 模板，支持结构化请求体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851202" y="1729829"/>
            <a:ext cx="1218902" cy="190500"/>
          </a:xfrm>
          <a:prstGeom prst="roundRect">
            <a:avLst>
              <a:gd name="adj" fmla="val 20000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42543" y="1767929"/>
            <a:ext cx="103621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JavaScript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197054" y="1729829"/>
            <a:ext cx="16571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沙盒代码执行，支持自定义业务逻辑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673501" y="2326481"/>
            <a:ext cx="4089499" cy="1456879"/>
          </a:xfrm>
          <a:prstGeom prst="roundRect">
            <a:avLst>
              <a:gd name="adj" fmla="val 5230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851202" y="2504182"/>
            <a:ext cx="380878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1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工具配置结构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851202" y="2831157"/>
            <a:ext cx="3808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Schema 参数定义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51202" y="3024783"/>
            <a:ext cx="3808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分组管理 (toolGroups)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851202" y="3218408"/>
            <a:ext cx="3808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启用/禁用切换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51202" y="3412034"/>
            <a:ext cx="380878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级工具权限控制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消息流转流程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593354" y="715714"/>
            <a:ext cx="781050" cy="364927"/>
          </a:xfrm>
          <a:prstGeom prst="roundRect">
            <a:avLst>
              <a:gd name="adj" fmla="val 20881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602879" y="715714"/>
            <a:ext cx="0" cy="364927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764804" y="817215"/>
            <a:ext cx="46634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用户输入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450604" y="793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04654" y="655439"/>
            <a:ext cx="1073646" cy="485477"/>
          </a:xfrm>
          <a:prstGeom prst="roundRect">
            <a:avLst>
              <a:gd name="adj" fmla="val 15696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2714179" y="655439"/>
            <a:ext cx="0" cy="485477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76104" y="756940"/>
            <a:ext cx="7647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send-message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876104" y="915591"/>
            <a:ext cx="764792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事件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3854500" y="793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08549" y="641152"/>
            <a:ext cx="857101" cy="514052"/>
          </a:xfrm>
          <a:prstGeom prst="roundRect">
            <a:avLst>
              <a:gd name="adj" fmla="val 1482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4118074" y="641152"/>
            <a:ext cx="0" cy="514052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79999" y="742652"/>
            <a:ext cx="5439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消息缓存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279999" y="929878"/>
            <a:ext cx="5439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本地历史记录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041850" y="793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95900" y="641152"/>
            <a:ext cx="1009650" cy="514052"/>
          </a:xfrm>
          <a:prstGeom prst="roundRect">
            <a:avLst>
              <a:gd name="adj" fmla="val 1482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305425" y="641152"/>
            <a:ext cx="0" cy="514052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67350" y="742652"/>
            <a:ext cx="69951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系统提示注入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67350" y="929878"/>
            <a:ext cx="69951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首条消息时注入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6381750" y="793403"/>
            <a:ext cx="1814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35800" y="669727"/>
            <a:ext cx="914698" cy="456902"/>
          </a:xfrm>
          <a:prstGeom prst="roundRect">
            <a:avLst>
              <a:gd name="adj" fmla="val 1667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645325" y="669727"/>
            <a:ext cx="0" cy="456902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07250" y="771227"/>
            <a:ext cx="60266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send()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07250" y="929878"/>
            <a:ext cx="602665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Copilot CLI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381000" y="1282154"/>
            <a:ext cx="8382000" cy="263426"/>
          </a:xfrm>
          <a:prstGeom prst="roundRect">
            <a:avLst>
              <a:gd name="adj" fmla="val 14463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26669" y="1332905"/>
            <a:ext cx="829066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Events 流式事件处理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1000" y="1850231"/>
            <a:ext cx="1981200" cy="873026"/>
          </a:xfrm>
          <a:prstGeom prst="roundRect">
            <a:avLst>
              <a:gd name="adj" fmla="val 87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81000" y="1859756"/>
            <a:ext cx="1981200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7950" y="1996232"/>
            <a:ext cx="1761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消息流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07950" y="2234357"/>
            <a:ext cx="1761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message_delta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507950" y="2386757"/>
            <a:ext cx="1761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message-complete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2514600" y="1850231"/>
            <a:ext cx="1981200" cy="873026"/>
          </a:xfrm>
          <a:prstGeom prst="roundRect">
            <a:avLst>
              <a:gd name="adj" fmla="val 87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2514600" y="1859756"/>
            <a:ext cx="1981200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41550" y="1996232"/>
            <a:ext cx="1761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推理流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2641550" y="2234357"/>
            <a:ext cx="1761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reasoning_delta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641550" y="2386757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思维过程展示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648200" y="1850231"/>
            <a:ext cx="1981200" cy="873026"/>
          </a:xfrm>
          <a:prstGeom prst="roundRect">
            <a:avLst>
              <a:gd name="adj" fmla="val 87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4648200" y="1859756"/>
            <a:ext cx="1981200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75150" y="1996232"/>
            <a:ext cx="1761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工具流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775150" y="2234357"/>
            <a:ext cx="1761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tool.execution_start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775150" y="2386757"/>
            <a:ext cx="176184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tool.execution_complete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6781800" y="1850231"/>
            <a:ext cx="1981200" cy="873026"/>
          </a:xfrm>
          <a:prstGeom prst="roundRect">
            <a:avLst>
              <a:gd name="adj" fmla="val 8728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Shape 42"/>
          <p:cNvSpPr/>
          <p:nvPr/>
        </p:nvSpPr>
        <p:spPr>
          <a:xfrm>
            <a:off x="6781800" y="1859756"/>
            <a:ext cx="1981200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08750" y="1996232"/>
            <a:ext cx="176184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前端渲染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908750" y="2234357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增量渲染 Delta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908750" y="2415332"/>
            <a:ext cx="176184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完成 → 最终显示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前端架构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1152"/>
            <a:ext cx="1962150" cy="2489597"/>
          </a:xfrm>
          <a:prstGeom prst="roundRect">
            <a:avLst>
              <a:gd name="adj" fmla="val 388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58701" y="1196578"/>
            <a:ext cx="1606748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58701" y="818852"/>
            <a:ext cx="16388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Chat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8701" y="996553"/>
            <a:ext cx="1638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app.js · 25KB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58701" y="1307604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Socket.IO 客户端通信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1513284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集中式状态管理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58701" y="1718965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消息气泡（左右布局）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58701" y="1924645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可折叠推理区域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58701" y="2130326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工具调用指示器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58701" y="2336006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自动扩展输入框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58701" y="2541687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Shift+Enter 多行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58701" y="2747367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模型选择器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520851" y="641152"/>
            <a:ext cx="1962299" cy="2489597"/>
          </a:xfrm>
          <a:prstGeom prst="roundRect">
            <a:avLst>
              <a:gd name="adj" fmla="val 388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698552" y="1196578"/>
            <a:ext cx="1606897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98552" y="818852"/>
            <a:ext cx="1639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Manager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8552" y="996553"/>
            <a:ext cx="1639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agentManager.js · 12KB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698552" y="1307604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CRUD 操作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698552" y="1513284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侧边栏选择器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2698552" y="1718965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创建/编辑/删除弹窗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698552" y="1924645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工具选择界面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698552" y="2130326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设置默认 Agent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660850" y="641152"/>
            <a:ext cx="1962150" cy="2489597"/>
          </a:xfrm>
          <a:prstGeom prst="roundRect">
            <a:avLst>
              <a:gd name="adj" fmla="val 388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838551" y="1196578"/>
            <a:ext cx="1606748" cy="0"/>
          </a:xfrm>
          <a:prstGeom prst="line">
            <a:avLst/>
          </a:prstGeom>
          <a:noFill/>
          <a:ln w="19050">
            <a:solidFill>
              <a:srgbClr val="B165F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551" y="818852"/>
            <a:ext cx="163888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 Manager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8551" y="996553"/>
            <a:ext cx="1638883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toolManager.js · 16KB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838551" y="1307604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自定义工具创建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838551" y="1513284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参数定义界面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38551" y="1718965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工具组管理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838551" y="1924645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启用/禁用切换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38551" y="2130326"/>
            <a:ext cx="163888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实时注册表同步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800701" y="641152"/>
            <a:ext cx="1962299" cy="2489597"/>
          </a:xfrm>
          <a:prstGeom prst="roundRect">
            <a:avLst>
              <a:gd name="adj" fmla="val 388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6978402" y="1196578"/>
            <a:ext cx="1606897" cy="0"/>
          </a:xfrm>
          <a:prstGeom prst="line">
            <a:avLst/>
          </a:prstGeom>
          <a:noFill/>
          <a:ln w="19050">
            <a:solidFill>
              <a:srgbClr val="4069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78402" y="818852"/>
            <a:ext cx="16390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78402" y="996553"/>
            <a:ext cx="163903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style.css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978402" y="1307604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CSS Custom Properties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978402" y="1513284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Flexbox 布局系统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978402" y="1718965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响应式设计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6978402" y="1924645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Sidebar 280px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6978402" y="2130326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 60px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978402" y="2336006"/>
            <a:ext cx="1639035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500"/>
              </a:spcAft>
              <a:buNone/>
            </a:pPr>
            <a:r>
              <a:rPr lang="en-US" sz="8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风格美学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部署与运行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1152"/>
            <a:ext cx="2692301" cy="1753939"/>
          </a:xfrm>
          <a:prstGeom prst="roundRect">
            <a:avLst>
              <a:gd name="adj" fmla="val 434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8701" y="818852"/>
            <a:ext cx="23836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默认模式 (stdio)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58701" y="1069628"/>
            <a:ext cx="238363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推荐开发使用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58701" y="1313408"/>
            <a:ext cx="2336899" cy="243780"/>
          </a:xfrm>
          <a:prstGeom prst="roundRect">
            <a:avLst>
              <a:gd name="adj" fmla="val 15629"/>
            </a:avLst>
          </a:prstGeom>
          <a:solidFill>
            <a:srgbClr val="1417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660202" y="1364159"/>
            <a:ext cx="2176576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58701" y="1582489"/>
            <a:ext cx="2383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 自动启动 Copilot CLI 进程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58701" y="1780580"/>
            <a:ext cx="2383637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访问 http://localhost:3000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25701" y="641152"/>
            <a:ext cx="2692450" cy="1753939"/>
          </a:xfrm>
          <a:prstGeom prst="roundRect">
            <a:avLst>
              <a:gd name="adj" fmla="val 434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403402" y="818852"/>
            <a:ext cx="23837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 模式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03402" y="1069628"/>
            <a:ext cx="23837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 CLI 服务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03402" y="1313408"/>
            <a:ext cx="2337048" cy="243780"/>
          </a:xfrm>
          <a:prstGeom prst="roundRect">
            <a:avLst>
              <a:gd name="adj" fmla="val 15629"/>
            </a:avLst>
          </a:prstGeom>
          <a:solidFill>
            <a:srgbClr val="1417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504902" y="1364159"/>
            <a:ext cx="217672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 server --port 8080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403402" y="1607939"/>
            <a:ext cx="2337048" cy="386060"/>
          </a:xfrm>
          <a:prstGeom prst="roundRect">
            <a:avLst>
              <a:gd name="adj" fmla="val 9869"/>
            </a:avLst>
          </a:prstGeom>
          <a:solidFill>
            <a:srgbClr val="1417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504902" y="1658689"/>
            <a:ext cx="2176727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COPILOT_CLI_URL=localhost:8080 npm run dev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403402" y="2019300"/>
            <a:ext cx="23837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连接外部 Copilot CLI Server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070550" y="641152"/>
            <a:ext cx="2692450" cy="1753939"/>
          </a:xfrm>
          <a:prstGeom prst="roundRect">
            <a:avLst>
              <a:gd name="adj" fmla="val 4345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248251" y="818852"/>
            <a:ext cx="238378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生产构建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48251" y="1069628"/>
            <a:ext cx="238378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spcAft>
                <a:spcPts val="800"/>
              </a:spcAft>
              <a:buNone/>
            </a:pPr>
            <a:r>
              <a:rPr lang="en-US" sz="8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Build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248251" y="1313408"/>
            <a:ext cx="2337048" cy="243780"/>
          </a:xfrm>
          <a:prstGeom prst="roundRect">
            <a:avLst>
              <a:gd name="adj" fmla="val 15629"/>
            </a:avLst>
          </a:prstGeom>
          <a:solidFill>
            <a:srgbClr val="1417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49752" y="1364159"/>
            <a:ext cx="217672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build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48251" y="1607939"/>
            <a:ext cx="2337048" cy="243780"/>
          </a:xfrm>
          <a:prstGeom prst="roundRect">
            <a:avLst>
              <a:gd name="adj" fmla="val 15629"/>
            </a:avLst>
          </a:prstGeom>
          <a:solidFill>
            <a:srgbClr val="1417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349752" y="1658689"/>
            <a:ext cx="2176727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4069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start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248251" y="1877020"/>
            <a:ext cx="2383789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C0B8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编译 → dist/ 目录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81000" y="2522041"/>
            <a:ext cx="8382000" cy="939403"/>
          </a:xfrm>
          <a:prstGeom prst="roundRect">
            <a:avLst>
              <a:gd name="adj" fmla="val 8112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558701" y="2699742"/>
            <a:ext cx="818713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环境变量配置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8701" y="3001268"/>
            <a:ext cx="19301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COPILOT_CLI_URL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558701" y="3140869"/>
            <a:ext cx="1930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外部 CLI 服务地址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2603450" y="3001268"/>
            <a:ext cx="19301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COPILOT_CLI_PATH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603450" y="3140869"/>
            <a:ext cx="1930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CLI 路径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648200" y="3001268"/>
            <a:ext cx="19301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COPILOT_LOG_LEVEL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648200" y="3140869"/>
            <a:ext cx="1930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日志级别 (info/debug)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692950" y="3001268"/>
            <a:ext cx="193019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6692950" y="3140869"/>
            <a:ext cx="193019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8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服务端口 (默认 3000)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177701"/>
            <a:ext cx="893826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590401"/>
            <a:ext cx="3035201" cy="609451"/>
          </a:xfrm>
          <a:prstGeom prst="roundRect">
            <a:avLst>
              <a:gd name="adj" fmla="val 1250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400050" y="590401"/>
            <a:ext cx="0" cy="609451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717352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3362" y="79504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4001" y="717352"/>
            <a:ext cx="15411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 SDK 集成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54001" y="917377"/>
            <a:ext cx="1541121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流式传输、工具调用、推理、会话管理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3517702" y="590401"/>
            <a:ext cx="3035201" cy="609451"/>
          </a:xfrm>
          <a:prstGeom prst="roundRect">
            <a:avLst>
              <a:gd name="adj" fmla="val 1250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536752" y="590401"/>
            <a:ext cx="0" cy="609451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08202" y="717352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1A2A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840063" y="795040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190702" y="717352"/>
            <a:ext cx="956825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专业架构设计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90702" y="917377"/>
            <a:ext cx="956825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服务/处理器/存储层分离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81000" y="1301353"/>
            <a:ext cx="3035201" cy="609451"/>
          </a:xfrm>
          <a:prstGeom prst="roundRect">
            <a:avLst>
              <a:gd name="adj" fmla="val 1250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400050" y="1301353"/>
            <a:ext cx="0" cy="609451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1500" y="1428304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03362" y="1505992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4001" y="1428304"/>
            <a:ext cx="110043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全栈完整示例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4001" y="1628329"/>
            <a:ext cx="1100432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 + 后端可直接参考复用</a:t>
            </a:r>
            <a:endParaRPr lang="en-US" sz="700" dirty="0"/>
          </a:p>
        </p:txBody>
      </p:sp>
      <p:sp>
        <p:nvSpPr>
          <p:cNvPr id="21" name="Text 19"/>
          <p:cNvSpPr/>
          <p:nvPr/>
        </p:nvSpPr>
        <p:spPr>
          <a:xfrm>
            <a:off x="3517702" y="1301353"/>
            <a:ext cx="3035201" cy="609451"/>
          </a:xfrm>
          <a:prstGeom prst="roundRect">
            <a:avLst>
              <a:gd name="adj" fmla="val 1250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3536752" y="1301353"/>
            <a:ext cx="0" cy="609451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708202" y="1428304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1A2A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3840063" y="1505992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190702" y="1428304"/>
            <a:ext cx="99993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可扩展设计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90702" y="1628329"/>
            <a:ext cx="99993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自定义 Agent + 工具系统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381000" y="2012305"/>
            <a:ext cx="3035201" cy="609451"/>
          </a:xfrm>
          <a:prstGeom prst="roundRect">
            <a:avLst>
              <a:gd name="adj" fmla="val 1250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00050" y="2012305"/>
            <a:ext cx="0" cy="609451"/>
          </a:xfrm>
          <a:prstGeom prst="line">
            <a:avLst/>
          </a:prstGeom>
          <a:noFill/>
          <a:ln w="38100">
            <a:solidFill>
              <a:srgbClr val="B165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1500" y="2139255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2A1F4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03362" y="2216944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165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54001" y="2139255"/>
            <a:ext cx="126908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安全考量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54001" y="2339280"/>
            <a:ext cx="1269087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沙盒执行、超时保护、错误处理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3517702" y="2012305"/>
            <a:ext cx="3035201" cy="609451"/>
          </a:xfrm>
          <a:prstGeom prst="roundRect">
            <a:avLst>
              <a:gd name="adj" fmla="val 12503"/>
            </a:avLst>
          </a:prstGeom>
          <a:solidFill>
            <a:srgbClr val="1E213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3536752" y="2012305"/>
            <a:ext cx="0" cy="609451"/>
          </a:xfrm>
          <a:prstGeom prst="line">
            <a:avLst/>
          </a:prstGeom>
          <a:noFill/>
          <a:ln w="38100">
            <a:solidFill>
              <a:srgbClr val="40695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08202" y="2139255"/>
            <a:ext cx="355550" cy="355550"/>
          </a:xfrm>
          <a:prstGeom prst="roundRect">
            <a:avLst>
              <a:gd name="adj" fmla="val 21432"/>
            </a:avLst>
          </a:prstGeom>
          <a:solidFill>
            <a:srgbClr val="1A2A2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3840063" y="2216944"/>
            <a:ext cx="9366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069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190702" y="2139255"/>
            <a:ext cx="1067794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实用场景覆盖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190702" y="2339280"/>
            <a:ext cx="1067794" cy="115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buNone/>
            </a:pPr>
            <a:r>
              <a:rPr lang="en-US" sz="700" dirty="0">
                <a:solidFill>
                  <a:srgbClr val="8A8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AI/代码/翻译/任务规划助手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Copilot SDK Demo 项目介绍</dc:title>
  <dc:subject>PptxGenJS Presentation</dc:subject>
  <dc:creator>Copilot SDK Demo</dc:creator>
  <cp:lastModifiedBy>Copilot SDK Demo</cp:lastModifiedBy>
  <cp:revision>1</cp:revision>
  <dcterms:created xsi:type="dcterms:W3CDTF">2026-02-09T15:02:26Z</dcterms:created>
  <dcterms:modified xsi:type="dcterms:W3CDTF">2026-02-09T15:02:26Z</dcterms:modified>
</cp:coreProperties>
</file>